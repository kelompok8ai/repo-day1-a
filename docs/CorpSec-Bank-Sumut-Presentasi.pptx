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23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772400" y="0"/>
            <a:ext cx="4389120" cy="6446520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0"/>
            <a:ext cx="68580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FFFFFF"/>
                </a:solidFill>
              </a:defRPr>
            </a:pPr>
            <a:r>
              <a:t>CorpSec Bank Sumut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017520"/>
            <a:ext cx="6858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>
                <a:solidFill>
                  <a:srgbClr val="F58220"/>
                </a:solidFill>
              </a:defRPr>
            </a:pPr>
            <a:r>
              <a:t>Business Problem Canvas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931920"/>
            <a:ext cx="6858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CCDDC"/>
                </a:solidFill>
              </a:defRPr>
            </a:pPr>
            <a:r>
              <a:t>Presentasi Solusi Digital Corporate Secretary</a:t>
            </a:r>
          </a:p>
          <a:p>
            <a:pPr>
              <a:defRPr sz="1600">
                <a:solidFill>
                  <a:srgbClr val="BCCDDC"/>
                </a:solidFill>
              </a:defRPr>
            </a:pPr>
            <a:r>
              <a:t>PRD Discovery v0.1 — Bank Sumut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58220"/>
                </a:solidFill>
              </a:defRPr>
            </a:pPr>
            <a:r>
              <a:t>CorpSec Bank Sumut — Business Problem Canvas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9224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FFFFFF"/>
                </a:solidFill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446520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C2340"/>
                </a:solidFill>
              </a:defRPr>
            </a:pPr>
            <a:r>
              <a:t>Business Problem Canvas</a:t>
            </a:r>
          </a:p>
          <a:p>
            <a:pPr>
              <a:spcBef>
                <a:spcPts val="600"/>
              </a:spcBef>
              <a:defRPr sz="1700">
                <a:solidFill>
                  <a:srgbClr val="64748B"/>
                </a:solidFill>
              </a:defRPr>
            </a:pPr>
            <a:r>
              <a:t>Tiga masalah utama dan dampaknya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417320"/>
            <a:ext cx="3657600" cy="21488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1417320"/>
            <a:ext cx="3657600" cy="475488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490472"/>
            <a:ext cx="3291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Masalah 1: Proses Memorandum Manual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011680"/>
            <a:ext cx="32918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Memorandum masih lewat kertas, email, dan chat.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Sulit dilacak status &amp; riwayat keputusan.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3703320"/>
            <a:ext cx="3657600" cy="2148840"/>
          </a:xfrm>
          <a:prstGeom prst="roundRect">
            <a:avLst/>
          </a:prstGeom>
          <a:solidFill>
            <a:srgbClr val="FFF4EB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1480" y="3703320"/>
            <a:ext cx="3657600" cy="475488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3776472"/>
            <a:ext cx="3291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Dampak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4297680"/>
            <a:ext cx="32918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Dampak: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Approval memakan waktu lama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Dokumen sering tercecer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SLA sulit diukur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1417320"/>
            <a:ext cx="3657600" cy="21488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97680" y="1417320"/>
            <a:ext cx="3657600" cy="475488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80560" y="1490472"/>
            <a:ext cx="3291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Masalah 2: Agenda &amp; Rapat Terpisah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2011680"/>
            <a:ext cx="32918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Jadwal Direksi dan notulen rapat tidak terpusat.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Tindak lanjut rapat sering tidak terpantau.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3703320"/>
            <a:ext cx="3657600" cy="2148840"/>
          </a:xfrm>
          <a:prstGeom prst="roundRect">
            <a:avLst/>
          </a:prstGeom>
          <a:solidFill>
            <a:srgbClr val="FFF4EB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297680" y="3703320"/>
            <a:ext cx="3657600" cy="475488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80560" y="3776472"/>
            <a:ext cx="3291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Dampak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4297680"/>
            <a:ext cx="32918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Dampak: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Agenda tidak terdokumentasi penuh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Follow-up rapat terlambat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Koordinasi antar divisi lemah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83879" y="1417320"/>
            <a:ext cx="3657600" cy="21488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183879" y="1417320"/>
            <a:ext cx="3657600" cy="475488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66759" y="1490472"/>
            <a:ext cx="3291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Masalah 3: Compliance Sulit Dipantau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66759" y="2011680"/>
            <a:ext cx="32918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Tinjauan regulasi dilakukan manual.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Tidak ada arsip terpusat SK/SE/SOP &amp; regulasi OJK/BI.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83879" y="3703320"/>
            <a:ext cx="3657600" cy="2148840"/>
          </a:xfrm>
          <a:prstGeom prst="roundRect">
            <a:avLst/>
          </a:prstGeom>
          <a:solidFill>
            <a:srgbClr val="FFF4EB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183879" y="3703320"/>
            <a:ext cx="3657600" cy="475488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66759" y="3776472"/>
            <a:ext cx="3291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Dampak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66759" y="4297680"/>
            <a:ext cx="32918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Dampak: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Risiko kepatuhan meningkat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CorpSec beban kerja tinggi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Keputusan tidak konsisten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" y="649224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58220"/>
                </a:solidFill>
              </a:defRPr>
            </a:pPr>
            <a:r>
              <a:t>CorpSec Bank Sumut — Business Problem Canvas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0" y="649224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FFFFFF"/>
                </a:solidFill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446520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C2340"/>
                </a:solidFill>
              </a:defRPr>
            </a:pPr>
            <a:r>
              <a:t>Ringkasan PRD Terpilih</a:t>
            </a:r>
          </a:p>
          <a:p>
            <a:pPr>
              <a:spcBef>
                <a:spcPts val="600"/>
              </a:spcBef>
              <a:defRPr sz="1700">
                <a:solidFill>
                  <a:srgbClr val="64748B"/>
                </a:solidFill>
              </a:defRPr>
            </a:pPr>
            <a:r>
              <a:t>Fokus solusi berdasarkan kebutuhan CorpSec Bank Sumut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325880"/>
            <a:ext cx="5394960" cy="22860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1325880"/>
            <a:ext cx="5394960" cy="475488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399032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Masalah yang Diatasi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920240"/>
            <a:ext cx="502920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Proses memorandum lambat &amp; tidak terlacak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Agenda Direksi belum terdigitalisasi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Compliance review manual &amp; tidak standar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Tidak ada monitoring SLA terpusat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325880"/>
            <a:ext cx="5394960" cy="22860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325880"/>
            <a:ext cx="5394960" cy="475488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99032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Alasan Solusi Dibuat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1920240"/>
            <a:ext cx="502920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Mengurangi penggunaan kertas (target -90%)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Mempercepat approval (target -50% waktu)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Resume tinjauan &lt; 5 menit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SLA memorandum ≥ 95%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" y="3794760"/>
            <a:ext cx="5394960" cy="21488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" y="3794760"/>
            <a:ext cx="5394960" cy="475488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3867912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User Utama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4389120"/>
            <a:ext cx="5029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Corporate Secretary (pengelola utama)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Divisi Pengusul (pengirim memorandum)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Pemimpin Bidang (persetujuan awal)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Sekretaris Direksi/Komisaris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Direksi &amp; Komisaris (keputusan akhir)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3794760"/>
            <a:ext cx="5394960" cy="21488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63640" y="3794760"/>
            <a:ext cx="5394960" cy="475488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3867912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Fitur Utama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4389120"/>
            <a:ext cx="5029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Dashboard &amp; laporan statistik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Memorandum digital + workflow 7 level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Agenda, rapat, &amp; tindak lanjut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Media monitoring &amp; knowledge base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SLA monitoring &amp; bantuan tinjauan dokumen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58220"/>
                </a:solidFill>
              </a:defRPr>
            </a:pPr>
            <a:r>
              <a:t>CorpSec Bank Sumut — Business Problem Canvas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0" y="649224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FFFFFF"/>
                </a:solidFill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446520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C2340"/>
                </a:solidFill>
              </a:defRPr>
            </a:pPr>
            <a:r>
              <a:t>Aplikasi yang Dibuat</a:t>
            </a:r>
          </a:p>
          <a:p>
            <a:pPr>
              <a:spcBef>
                <a:spcPts val="600"/>
              </a:spcBef>
              <a:defRPr sz="1700">
                <a:solidFill>
                  <a:srgbClr val="64748B"/>
                </a:solidFill>
              </a:defRPr>
            </a:pPr>
            <a:r>
              <a:t>Platform web CorpSec Bank Sumut — ringkasan singkat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325880"/>
            <a:ext cx="3520440" cy="44805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1325880"/>
            <a:ext cx="3520440" cy="475488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399032"/>
            <a:ext cx="3154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Tampilan Depan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920240"/>
            <a:ext cx="3154680" cy="3794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Halaman login dengan gambar gedung Bank Sumut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Warna navy &amp; oranye sesuai branding bank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Sidebar per role — menu sesuai tugas masing-masing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Dashboard dengan banner, statistik, &amp; grafik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Tampilan bersih, mudah dibaca, responsif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60520" y="1325880"/>
            <a:ext cx="3520440" cy="44805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60520" y="1325880"/>
            <a:ext cx="3520440" cy="475488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43400" y="1399032"/>
            <a:ext cx="3154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Fitur Utama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3400" y="1920240"/>
            <a:ext cx="3154680" cy="3794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Upload &amp; kelola memorandum PDF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Alur persetujuan 7 tahap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Bantuan rangkum isi memorandum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Tanda tangan digital saat approval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Agenda Direksi, rapat, media, arsip dokumen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Pemantauan SLA &amp; laporan KPI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09560" y="1325880"/>
            <a:ext cx="3520440" cy="44805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909560" y="1325880"/>
            <a:ext cx="3520440" cy="475488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92440" y="1399032"/>
            <a:ext cx="3154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Nilai Manfaat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92440" y="1920240"/>
            <a:ext cx="3154680" cy="3794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Proses lebih cepat &amp; terlacak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Mengurangi kertas &amp; duplikasi data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Keputusan lebih terdokumentasi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CorpSec punya dashboard terpusat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Setiap role hanya lihat tugasnya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Siap demo untuk evaluasi internal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649224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58220"/>
                </a:solidFill>
              </a:defRPr>
            </a:pPr>
            <a:r>
              <a:t>CorpSec Bank Sumut — Business Problem Canvas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9224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FFFFFF"/>
                </a:solidFill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446520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C2340"/>
                </a:solidFill>
              </a:defRPr>
            </a:pPr>
            <a:r>
              <a:t>Mockup — Halaman Login &amp; Dashboard</a:t>
            </a:r>
          </a:p>
          <a:p>
            <a:pPr>
              <a:spcBef>
                <a:spcPts val="600"/>
              </a:spcBef>
              <a:defRPr sz="1700">
                <a:solidFill>
                  <a:srgbClr val="64748B"/>
                </a:solidFill>
              </a:defRPr>
            </a:pPr>
            <a:r>
              <a:t>Tampilan depan dan pusat kendali CorpSec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280160"/>
            <a:ext cx="5486400" cy="34747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1-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325880"/>
            <a:ext cx="5394960" cy="3063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4434840"/>
            <a:ext cx="5394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0C2340"/>
                </a:solidFill>
              </a:defRPr>
            </a:pPr>
            <a:r>
              <a:t>Halaman Login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280160"/>
            <a:ext cx="5486400" cy="34747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2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325880"/>
            <a:ext cx="5394960" cy="30632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63640" y="4434840"/>
            <a:ext cx="5394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0C2340"/>
                </a:solidFill>
              </a:defRPr>
            </a:pPr>
            <a:r>
              <a:t>Dashboard Corporate Secretary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58220"/>
                </a:solidFill>
              </a:defRPr>
            </a:pPr>
            <a:r>
              <a:t>CorpSec Bank Sumut — Business Problem Canvas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649224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FFFFFF"/>
                </a:solidFill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446520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C2340"/>
                </a:solidFill>
              </a:defRPr>
            </a:pPr>
            <a:r>
              <a:t>Mockup — Memorandum &amp; Divisi Pengusul</a:t>
            </a:r>
          </a:p>
          <a:p>
            <a:pPr>
              <a:spcBef>
                <a:spcPts val="600"/>
              </a:spcBef>
              <a:defRPr sz="1700">
                <a:solidFill>
                  <a:srgbClr val="64748B"/>
                </a:solidFill>
              </a:defRPr>
            </a:pPr>
            <a:r>
              <a:t>Modul utama pengelolaan dokumen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280160"/>
            <a:ext cx="5486400" cy="34747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3-memorandu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325880"/>
            <a:ext cx="5394960" cy="3063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4434840"/>
            <a:ext cx="5394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0C2340"/>
                </a:solidFill>
              </a:defRPr>
            </a:pPr>
            <a:r>
              <a:t>Manajemen Memorandum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280160"/>
            <a:ext cx="5486400" cy="34747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4-pengusu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325880"/>
            <a:ext cx="5394960" cy="30632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63640" y="4434840"/>
            <a:ext cx="5394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0C2340"/>
                </a:solidFill>
              </a:defRPr>
            </a:pPr>
            <a:r>
              <a:t>Beranda Divisi Pengusul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58220"/>
                </a:solidFill>
              </a:defRPr>
            </a:pPr>
            <a:r>
              <a:t>CorpSec Bank Sumut — Business Problem Canvas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649224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FFFFFF"/>
                </a:solidFill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446520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C2340"/>
                </a:solidFill>
              </a:defRPr>
            </a:pPr>
            <a:r>
              <a:t>Mockup — Review &amp; Agenda</a:t>
            </a:r>
          </a:p>
          <a:p>
            <a:pPr>
              <a:spcBef>
                <a:spcPts val="600"/>
              </a:spcBef>
              <a:defRPr sz="1700">
                <a:solidFill>
                  <a:srgbClr val="64748B"/>
                </a:solidFill>
              </a:defRPr>
            </a:pPr>
            <a:r>
              <a:t>Tampilan Pemimpin Bidang dan Agenda Direksi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280160"/>
            <a:ext cx="5486400" cy="34747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5-pimpin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325880"/>
            <a:ext cx="5394960" cy="3063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4434840"/>
            <a:ext cx="5394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0C2340"/>
                </a:solidFill>
              </a:defRPr>
            </a:pPr>
            <a:r>
              <a:t>Review Memorandum — Pimpinan Bidang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280160"/>
            <a:ext cx="5486400" cy="34747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6-agend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325880"/>
            <a:ext cx="5394960" cy="30632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63640" y="4434840"/>
            <a:ext cx="5394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0C2340"/>
                </a:solidFill>
              </a:defRPr>
            </a:pPr>
            <a:r>
              <a:t>Manajemen Agenda Direksi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58220"/>
                </a:solidFill>
              </a:defRPr>
            </a:pPr>
            <a:r>
              <a:t>CorpSec Bank Sumut — Business Problem Canvas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649224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FFFFFF"/>
                </a:solidFill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446520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C2340"/>
                </a:solidFill>
              </a:defRPr>
            </a:pPr>
            <a:r>
              <a:t>Modul Sistem</a:t>
            </a:r>
          </a:p>
          <a:p>
            <a:pPr>
              <a:spcBef>
                <a:spcPts val="600"/>
              </a:spcBef>
              <a:defRPr sz="1700">
                <a:solidFill>
                  <a:srgbClr val="64748B"/>
                </a:solidFill>
              </a:defRPr>
            </a:pPr>
            <a:r>
              <a:t>Delapan modul operasional dalam satu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371600"/>
            <a:ext cx="111556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200"/>
              </a:spcAft>
              <a:defRPr sz="1900">
                <a:solidFill>
                  <a:srgbClr val="1E293B"/>
                </a:solidFill>
              </a:defRPr>
            </a:pPr>
            <a:r>
              <a:t>Dashboard — ringkasan harian CorpSec (agenda, memo, SLA, notifikasi)</a:t>
            </a:r>
          </a:p>
          <a:p>
            <a:pPr>
              <a:lnSpc>
                <a:spcPct val="120000"/>
              </a:lnSpc>
              <a:spcAft>
                <a:spcPts val="1200"/>
              </a:spcAft>
              <a:defRPr sz="1900">
                <a:solidFill>
                  <a:srgbClr val="1E293B"/>
                </a:solidFill>
              </a:defRPr>
            </a:pPr>
            <a:r>
              <a:t>Memorandum — upload PDF, tinjauan, workflow 7 level, tanda tangan</a:t>
            </a:r>
          </a:p>
          <a:p>
            <a:pPr>
              <a:lnSpc>
                <a:spcPct val="120000"/>
              </a:lnSpc>
              <a:spcAft>
                <a:spcPts val="1200"/>
              </a:spcAft>
              <a:defRPr sz="1900">
                <a:solidFill>
                  <a:srgbClr val="1E293B"/>
                </a:solidFill>
              </a:defRPr>
            </a:pPr>
            <a:r>
              <a:t>Agenda Direksi — jadwal kegiatan &amp; catatan persiapan</a:t>
            </a:r>
          </a:p>
          <a:p>
            <a:pPr>
              <a:lnSpc>
                <a:spcPct val="120000"/>
              </a:lnSpc>
              <a:spcAft>
                <a:spcPts val="1200"/>
              </a:spcAft>
              <a:defRPr sz="1900">
                <a:solidFill>
                  <a:srgbClr val="1E293B"/>
                </a:solidFill>
              </a:defRPr>
            </a:pPr>
            <a:r>
              <a:t>Rapat — notulen &amp; tindak lanjut dengan penanggung jawab</a:t>
            </a:r>
          </a:p>
          <a:p>
            <a:pPr>
              <a:lnSpc>
                <a:spcPct val="120000"/>
              </a:lnSpc>
              <a:spcAft>
                <a:spcPts val="1200"/>
              </a:spcAft>
              <a:defRPr sz="1900">
                <a:solidFill>
                  <a:srgbClr val="1E293B"/>
                </a:solidFill>
              </a:defRPr>
            </a:pPr>
            <a:r>
              <a:t>Media Monitoring — berita Bank Sumut &amp; analisis sentimen</a:t>
            </a:r>
          </a:p>
          <a:p>
            <a:pPr>
              <a:lnSpc>
                <a:spcPct val="120000"/>
              </a:lnSpc>
              <a:spcAft>
                <a:spcPts val="1200"/>
              </a:spcAft>
              <a:defRPr sz="1900">
                <a:solidFill>
                  <a:srgbClr val="1E293B"/>
                </a:solidFill>
              </a:defRPr>
            </a:pPr>
            <a:r>
              <a:t>Knowledge Base — arsip SK/SE/SOP &amp; regulasi OJK/BI</a:t>
            </a:r>
          </a:p>
          <a:p>
            <a:pPr>
              <a:lnSpc>
                <a:spcPct val="120000"/>
              </a:lnSpc>
              <a:spcAft>
                <a:spcPts val="1200"/>
              </a:spcAft>
              <a:defRPr sz="1900">
                <a:solidFill>
                  <a:srgbClr val="1E293B"/>
                </a:solidFill>
              </a:defRPr>
            </a:pPr>
            <a:r>
              <a:t>SLA Monitoring — pantau target waktu ≥ 95%</a:t>
            </a:r>
          </a:p>
          <a:p>
            <a:pPr>
              <a:lnSpc>
                <a:spcPct val="120000"/>
              </a:lnSpc>
              <a:spcAft>
                <a:spcPts val="1200"/>
              </a:spcAft>
              <a:defRPr sz="1900">
                <a:solidFill>
                  <a:srgbClr val="1E293B"/>
                </a:solidFill>
              </a:defRPr>
            </a:pPr>
            <a:r>
              <a:t>Laporan — statistik &amp; KPI success metrics PRD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58220"/>
                </a:solidFill>
              </a:defRPr>
            </a:pPr>
            <a:r>
              <a:t>CorpSec Bank Sumut — Business Problem Canvas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9224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FFFFFF"/>
                </a:solidFill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446520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C2340"/>
                </a:solidFill>
              </a:defRPr>
            </a:pPr>
            <a:r>
              <a:t>Alur Kerja Memorandum</a:t>
            </a:r>
          </a:p>
          <a:p>
            <a:pPr>
              <a:spcBef>
                <a:spcPts val="600"/>
              </a:spcBef>
              <a:defRPr sz="1700">
                <a:solidFill>
                  <a:srgbClr val="64748B"/>
                </a:solidFill>
              </a:defRPr>
            </a:pPr>
            <a:r>
              <a:t>7 tahap persetujuan sesuai PRD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371600"/>
            <a:ext cx="111556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200"/>
              </a:spcAft>
              <a:defRPr sz="2000">
                <a:solidFill>
                  <a:srgbClr val="1E293B"/>
                </a:solidFill>
              </a:defRPr>
            </a:pPr>
            <a:r>
              <a:t>1. Divisi Pengusul — kirim memorandum PDF</a:t>
            </a:r>
          </a:p>
          <a:p>
            <a:pPr>
              <a:lnSpc>
                <a:spcPct val="120000"/>
              </a:lnSpc>
              <a:spcAft>
                <a:spcPts val="1200"/>
              </a:spcAft>
              <a:defRPr sz="2000">
                <a:solidFill>
                  <a:srgbClr val="1E293B"/>
                </a:solidFill>
              </a:defRPr>
            </a:pPr>
            <a:r>
              <a:t>2. Corporate Secretary — terima, rangkum, &amp; tinjau kelengkapan</a:t>
            </a:r>
          </a:p>
          <a:p>
            <a:pPr>
              <a:lnSpc>
                <a:spcPct val="120000"/>
              </a:lnSpc>
              <a:spcAft>
                <a:spcPts val="1200"/>
              </a:spcAft>
              <a:defRPr sz="2000">
                <a:solidFill>
                  <a:srgbClr val="1E293B"/>
                </a:solidFill>
              </a:defRPr>
            </a:pPr>
            <a:r>
              <a:t>3. Pemimpin Bidang — setujui atau tolak + tanda tangan</a:t>
            </a:r>
          </a:p>
          <a:p>
            <a:pPr>
              <a:lnSpc>
                <a:spcPct val="120000"/>
              </a:lnSpc>
              <a:spcAft>
                <a:spcPts val="1200"/>
              </a:spcAft>
              <a:defRPr sz="2000">
                <a:solidFill>
                  <a:srgbClr val="1E293B"/>
                </a:solidFill>
              </a:defRPr>
            </a:pPr>
            <a:r>
              <a:t>4. Sekretaris Direksi/Komisaris — teruskan ke pimpinan</a:t>
            </a:r>
          </a:p>
          <a:p>
            <a:pPr>
              <a:lnSpc>
                <a:spcPct val="120000"/>
              </a:lnSpc>
              <a:spcAft>
                <a:spcPts val="1200"/>
              </a:spcAft>
              <a:defRPr sz="2000">
                <a:solidFill>
                  <a:srgbClr val="1E293B"/>
                </a:solidFill>
              </a:defRPr>
            </a:pPr>
            <a:r>
              <a:t>5. Direksi / Komisaris — beri keputusan</a:t>
            </a:r>
          </a:p>
          <a:p>
            <a:pPr>
              <a:lnSpc>
                <a:spcPct val="120000"/>
              </a:lnSpc>
              <a:spcAft>
                <a:spcPts val="1200"/>
              </a:spcAft>
              <a:defRPr sz="2000">
                <a:solidFill>
                  <a:srgbClr val="1E293B"/>
                </a:solidFill>
              </a:defRPr>
            </a:pPr>
            <a:r>
              <a:t>6. CorpSec — finalisasi sesuai keputusan board</a:t>
            </a:r>
          </a:p>
          <a:p>
            <a:pPr>
              <a:lnSpc>
                <a:spcPct val="120000"/>
              </a:lnSpc>
              <a:spcAft>
                <a:spcPts val="1200"/>
              </a:spcAft>
              <a:defRPr sz="2000">
                <a:solidFill>
                  <a:srgbClr val="1E293B"/>
                </a:solidFill>
              </a:defRPr>
            </a:pPr>
            <a:r>
              <a:t>7. Kembali ke Pengusul — pemberitahuan hasil akhir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58220"/>
                </a:solidFill>
              </a:defRPr>
            </a:pPr>
            <a:r>
              <a:t>CorpSec Bank Sumut — Business Problem Canvas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9224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FFFFFF"/>
                </a:solidFill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446520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C2340"/>
                </a:solidFill>
              </a:defRPr>
            </a:pPr>
            <a:r>
              <a:t>Perbaikan Aspek User Experience</a:t>
            </a:r>
          </a:p>
          <a:p>
            <a:pPr>
              <a:spcBef>
                <a:spcPts val="600"/>
              </a:spcBef>
              <a:defRPr sz="1700">
                <a:solidFill>
                  <a:srgbClr val="64748B"/>
                </a:solidFill>
              </a:defRPr>
            </a:pPr>
            <a:r>
              <a:t>Yang sudah diterapkan dan rencana perbaikan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325880"/>
            <a:ext cx="5394960" cy="45720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1325880"/>
            <a:ext cx="5394960" cy="47548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399032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Sudah Diterapkan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920240"/>
            <a:ext cx="502920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Desain UI mengikuti identitas Bank Sumut (navy &amp; oranye)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Login page dengan hero image &amp; akun demo cepat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Navigasi sidebar per role — tidak membingungkan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Workflow stepper visual di detail memorandum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Indikator baca (belum/sudah dibaca) pada daftar memo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Dashboard hero banner &amp; stat cards informatif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Redirect otomatis ke halaman sesuai role setelah login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Sidebar mobile dengan menu hamburger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325880"/>
            <a:ext cx="5394960" cy="45720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325880"/>
            <a:ext cx="5394960" cy="475488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99032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Rencana Perbaikan UX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1920240"/>
            <a:ext cx="502920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Notifikasi real-time (toast &amp; badge) saat ada dokumen baru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Loading state &amp; feedback saat upload PDF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Halaman error yang lebih informatif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Pencarian &amp; filter di daftar memorandum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Mode gelap (dark mode) opsional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Panduan singkat (onboarding) untuk user baru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Optimasi tampilan tablet &amp; HP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Akses cepat ke rapat &amp; media dari sidebar CorpSec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58220"/>
                </a:solidFill>
              </a:defRPr>
            </a:pPr>
            <a:r>
              <a:t>CorpSec Bank Sumut — Business Problem Canvas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FFFFFF"/>
                </a:solidFill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446520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C2340"/>
                </a:solidFill>
              </a:defRPr>
            </a:pPr>
            <a:r>
              <a:t>Perbaikan Aspek Keamanan</a:t>
            </a:r>
          </a:p>
          <a:p>
            <a:pPr>
              <a:spcBef>
                <a:spcPts val="600"/>
              </a:spcBef>
              <a:defRPr sz="1700">
                <a:solidFill>
                  <a:srgbClr val="64748B"/>
                </a:solidFill>
              </a:defRPr>
            </a:pPr>
            <a:r>
              <a:t>Kondisi saat ini dan langkah penguatan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325880"/>
            <a:ext cx="5394960" cy="45720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1325880"/>
            <a:ext cx="5394960" cy="47548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399032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Sudah Diterapkan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920240"/>
            <a:ext cx="502920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Login wajib — halaman dilindungi middleware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Pembagian akses per role (RBAC 7 level)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Cookie session httpOnly &amp; sameSite=lax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API memorandum dicek role sebelum aksi (requireApiRole)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Redirect otomatis jika akses halaman tidak sesuai role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Validasi file upload (format PDF, batas ukuran)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325880"/>
            <a:ext cx="5394960" cy="45720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325880"/>
            <a:ext cx="5394960" cy="475488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99032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Perlu Ditingkatkan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1920240"/>
            <a:ext cx="502920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Session cookie perlu ditandatangani (JWT/signed cookie)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Password disimpan plaintext — perlu bcrypt/hash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Belum ada rate limiting pada login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Belum ada security headers (CSP, HSTS, X-Frame)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Belum ada audit log aktivitas user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Perlu validasi input lebih ketat di semua API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Enkripsi file PDF di storage server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Integrasi SSO Active Directory Bank Sumut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58220"/>
                </a:solidFill>
              </a:defRPr>
            </a:pPr>
            <a:r>
              <a:t>CorpSec Bank Sumut — Business Problem Canvas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FFFFFF"/>
                </a:solidFill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446520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C2340"/>
                </a:solidFill>
              </a:defRPr>
            </a:pPr>
            <a:r>
              <a:t>Rencana Langkah Selanjutnya</a:t>
            </a:r>
          </a:p>
          <a:p>
            <a:pPr>
              <a:spcBef>
                <a:spcPts val="600"/>
              </a:spcBef>
              <a:defRPr sz="1700">
                <a:solidFill>
                  <a:srgbClr val="64748B"/>
                </a:solidFill>
              </a:defRPr>
            </a:pPr>
            <a:r>
              <a:t>Prioritas pengembangan ke depan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417320"/>
            <a:ext cx="3657600" cy="44348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1417320"/>
            <a:ext cx="3657600" cy="475488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490472"/>
            <a:ext cx="3291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Fase 1 — Stabilisasi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011680"/>
            <a:ext cx="329184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Perbaiki keamanan: hash password, signed session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Tambah rate limiting &amp; security headers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Lengkapi audit log aktivitas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Uji coba internal dengan user CorpSec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417320"/>
            <a:ext cx="3657600" cy="44348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0" y="1417320"/>
            <a:ext cx="3657600" cy="475488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80560" y="1490472"/>
            <a:ext cx="3291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Fase 2 — Peningkatan Fitur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2011680"/>
            <a:ext cx="329184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Integrasi LLM nyata untuk tinjauan memorandum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Notifikasi email/SMS saat approval &amp; SLA breach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Export laporan PDF/Excel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Koneksi ke SMD Bank Sumut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83879" y="1417320"/>
            <a:ext cx="3657600" cy="44348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83879" y="1417320"/>
            <a:ext cx="3657600" cy="47548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66759" y="1490472"/>
            <a:ext cx="3291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Fase 3 — Go Live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59" y="2011680"/>
            <a:ext cx="329184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Integrasi SSO Active Directory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Migrasi database ke PostgreSQL production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Penetration testing &amp; UAT formal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Pelatihan user &amp; rollout ke seluruh divisi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649224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58220"/>
                </a:solidFill>
              </a:defRPr>
            </a:pPr>
            <a:r>
              <a:t>CorpSec Bank Sumut — Business Problem Canvas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9224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FFFFFF"/>
                </a:solidFill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23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01168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600" b="1">
                <a:solidFill>
                  <a:srgbClr val="FFFFFF"/>
                </a:solidFill>
              </a:defRPr>
            </a:pPr>
            <a:r>
              <a:t>Terima Kasih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2461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>
                <a:solidFill>
                  <a:srgbClr val="F58220"/>
                </a:solidFill>
              </a:defRPr>
            </a:pPr>
            <a:r>
              <a:t>CorpSec Bank Sumut — Solusi Digital Corporate Secretary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11480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BCCDDC"/>
                </a:solidFill>
              </a:defRPr>
            </a:pPr>
            <a:r>
              <a:t>Demo: localhost:3000/login  |  GitHub: kelompok8ai/repo-day1-a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58220"/>
                </a:solidFill>
              </a:defRPr>
            </a:pPr>
            <a:r>
              <a:t>CorpSec Bank Sumut — Business Problem Canvas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9224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FFFFFF"/>
                </a:solidFill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